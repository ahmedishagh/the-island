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9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9FD679-A24E-A0B1-DF79-8472BFED962A}" v="2" dt="2026-05-27T22:16:00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97608-1000-4722-93F6-EC3A12AD2E1E}" type="datetimeFigureOut">
              <a:t>27/05/2026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91AD3-4DB4-4150-94C3-3968C52EA22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410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74320"/>
            <a:ext cx="5029200" cy="5029200"/>
          </a:xfrm>
          <a:prstGeom prst="hexagon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1371600"/>
            <a:ext cx="3200400" cy="3200400"/>
          </a:xfrm>
          <a:prstGeom prst="hexagon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2194560"/>
            <a:ext cx="1828800" cy="1828800"/>
          </a:xfrm>
          <a:prstGeom prst="hexagon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548640" cy="548640"/>
          </a:xfrm>
          <a:prstGeom prst="hexag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PROGRAMMATION ORIENTÉE OBJET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841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 3  ·  2025 /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1645920"/>
            <a:ext cx="7315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ISLAND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développement d'un jeu de stratégie hexagonal en Java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3886200"/>
            <a:ext cx="164592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5212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Rayen HMIDA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Joudi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Ishagh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Mouhamed El Ouarguly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Dhekra ABOUDA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la présentation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9144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86000"/>
            <a:ext cx="9144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231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6517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82880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et périmètre du projet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228600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2286000"/>
            <a:ext cx="9144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4231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26517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Conception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45236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MVC et modèle de données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31520" y="370332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1520" y="3703320"/>
            <a:ext cx="9144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0120" y="38404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40690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2880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Implémentation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82880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jeu et interface graphique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355080" y="370332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55080" y="3703320"/>
            <a:ext cx="9144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583680" y="38404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0" y="406908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5236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 utilisateur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45236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et déroulement d'une partie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31520" y="512064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31520" y="5120640"/>
            <a:ext cx="9144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60120" y="5257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5486400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828800" y="5349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Statistiques &amp; Bilan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182880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Métriques, difficultés, améliorations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355080" y="512064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355080" y="5120640"/>
            <a:ext cx="9144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583680" y="5257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8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0" y="5486400"/>
            <a:ext cx="502920" cy="5029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452360" y="5349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41" name="Text 33"/>
          <p:cNvSpPr/>
          <p:nvPr/>
        </p:nvSpPr>
        <p:spPr>
          <a:xfrm>
            <a:off x="745236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et perspectives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hexagon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hexagon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4754880"/>
            <a:ext cx="2286000" cy="2286000"/>
          </a:xfrm>
          <a:prstGeom prst="hexagon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36576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 du projet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périmètre et contexte académique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jeu The Island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6583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658368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7830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jeu de stratégie et de survie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68680" y="2331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est un jeu de société pour 2 à 4 joueurs. Chaque joueur dirige une équipe de dix explorateurs piégés sur une île volcanique en train de sombrer.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246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est double 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3566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Évacuer ses explorateurs vers les plages de sauvetage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Maximiser la valeur des trésors transportés par les survivants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45720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obstacles : créatures marines (serpent, requin, baleine), tuiles qui disparaissent une à une, et une fin de partie déclenchée par le volcan.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406640" y="1463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06640" y="1463040"/>
            <a:ext cx="9144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288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5820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45820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à 4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406640" y="26974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406640" y="2697480"/>
            <a:ext cx="9144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0632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5820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TUILES TERRAIN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458200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hexagones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7406640" y="39319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06640" y="3931920"/>
            <a:ext cx="9144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429768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4582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PIONS PAR JOUEUR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458200" y="4343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explorateurs + 2 bateaux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7406640" y="51663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406640" y="5166360"/>
            <a:ext cx="9144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553212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45820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CRÉATURES MARINES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458200" y="5577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Serpent · Requin · Baleine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et périmètre du projet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cahier des charges fixe à la fois des exigences techniques et une couverture fonctionnelle complète du jeu.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577840" cy="4389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TECHNIQUES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critères imposés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les règles complètes de The Island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947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749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une interface Swing claire et ergonomique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891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4343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 paradigme objet : encapsulation, polymorphisme, patrons de conception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8348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4937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 code en Javadoc et suivre les conventions Java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57784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5532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un JAR exécutable autonome, buildable hors IDE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309360" y="192024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309360" y="1920240"/>
            <a:ext cx="91440" cy="4389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19456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408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FONCTIONNEL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5836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Couverture complète des règles</a:t>
            </a:r>
            <a:endParaRPr lang="en-US" sz="1800" dirty="0"/>
          </a:p>
        </p:txBody>
      </p:sp>
      <p:sp>
        <p:nvSpPr>
          <p:cNvPr id="28" name="Shape 19"/>
          <p:cNvSpPr/>
          <p:nvPr/>
        </p:nvSpPr>
        <p:spPr>
          <a:xfrm>
            <a:off x="6583680" y="329184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81228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hexagonal de 40 tuiles (plage, forêt, montagne)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583680" y="379476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81228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types de pions : explorateurs, bateaux, créatures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583680" y="429768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81228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immédiates et tuiles conservées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583680" y="480060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81228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créatures aux effets spécifiques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583680" y="53035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812280" y="5212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score et écran de fin de partie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583680" y="580644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812280" y="5715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d'aide intégrée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hexagon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hexagon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4754880"/>
            <a:ext cx="2286000" cy="2286000"/>
          </a:xfrm>
          <a:prstGeom prst="hexagon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36576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Structuration du code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MVC, organisation en packages et choix de modélisation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patron Modèle-Vue-Contrôleur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globale suit le patron MVC pour garantir une séparation nette des responsabilités et faciliter la maintenance.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370332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logique métier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theisland.model · theisland.util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4251960"/>
            <a:ext cx="3154680" cy="18288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l'état du jeu (plateau, pions, scores) et applique les règles métier pures. Aucune dépendance vers Swing.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34840" y="196596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1965960"/>
            <a:ext cx="370332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24028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70916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graphique Swing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0916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709160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theisland.view · view.component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709160" y="4251960"/>
            <a:ext cx="3154680" cy="18288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091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70916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 rendu hexagonal, les fenêtres, dialogues et composants graphiques. Ne contient aucune logique de jeu.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321040" y="196596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321040" y="1965960"/>
            <a:ext cx="3703320" cy="1280160"/>
          </a:xfrm>
          <a:prstGeom prst="rect">
            <a:avLst/>
          </a:prstGeom>
          <a:solidFill>
            <a:srgbClr val="2D3A6E"/>
          </a:solidFill>
          <a:ln w="12700">
            <a:solidFill>
              <a:srgbClr val="2D3A6E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240280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18972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CONTRÔLEUR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859536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entre Modèle et Vue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59536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595360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theisland.controller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8595360" y="4251960"/>
            <a:ext cx="3154680" cy="18288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5953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859536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les actions du joueur, applique les effets en chaîne et renvoie un ActionResult décrivant le résultat à la Vue.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 des packages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des sources reflète fidèlement la séparation MVC.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035040" cy="4389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103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103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2103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src/theisland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6035040" cy="18288"/>
          </a:xfrm>
          <a:prstGeom prst="rect">
            <a:avLst/>
          </a:prstGeom>
          <a:solidFill>
            <a:srgbClr val="2D3A6E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603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theisland/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7797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Main.java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2779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Point d'entrée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9992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HexCoord.java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3218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Coordonnées hex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4381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Board, Cell, GameState, Player ...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8770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pion/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0965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│    └── Explorer, Boat, Creature ...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3159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tile/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5354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└── TerrainTile, TileAction ...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7548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974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GameController, ActionResult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1937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view/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54132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├── GameWindow, SetupDialog ...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56327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 component/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58521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└── BoardPanel, HexRenderer ...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1920240"/>
            <a:ext cx="4754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0" y="1920240"/>
            <a:ext cx="91440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94560"/>
            <a:ext cx="411480" cy="411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7724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JAVA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72400" y="2304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6858000" y="3017520"/>
            <a:ext cx="4754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58000" y="3017520"/>
            <a:ext cx="91440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291840"/>
            <a:ext cx="411480" cy="41148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77240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772400" y="34015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43" name="Shape 39"/>
          <p:cNvSpPr/>
          <p:nvPr/>
        </p:nvSpPr>
        <p:spPr>
          <a:xfrm>
            <a:off x="6858000" y="4114800"/>
            <a:ext cx="4754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858000" y="4114800"/>
            <a:ext cx="91440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389120"/>
            <a:ext cx="411480" cy="41148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77240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ÉNUMÉRATIONS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7772400" y="4498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48" name="Shape 43"/>
          <p:cNvSpPr/>
          <p:nvPr/>
        </p:nvSpPr>
        <p:spPr>
          <a:xfrm>
            <a:off x="6858000" y="5212080"/>
            <a:ext cx="4754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6858000" y="5212080"/>
            <a:ext cx="91440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5486400"/>
            <a:ext cx="411480" cy="41148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772400" y="5349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7772400" y="5596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4 150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Conception du modèle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choix de conception structurent le cœur du modèle.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286000"/>
            <a:ext cx="868680" cy="8686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688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HexCoord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HEXAGONALES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" y="4206240"/>
            <a:ext cx="5486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Encapsule un layout offset-column. Le calcul des 6 voisins tient compte de la parité de la colonne. La distance hexagonale est calculée par conversion en coordonnées cubiques.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196596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286000"/>
            <a:ext cx="868680" cy="8686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6888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0916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709160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DE JEU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09160" y="4206240"/>
            <a:ext cx="5486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0916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Représenté par une Map&lt;HexCoord, Cell&gt; pour un accès O(1). La zone île est définie par une ellipse paramétrique centrée. Les 4 coins accueillent les plages de débarquement.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321040" y="196596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641080" y="2286000"/>
            <a:ext cx="868680" cy="8686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246888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9536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ActionResult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8595360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VALUE OBJECT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595360" y="4206240"/>
            <a:ext cx="5486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59536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méthodes du contrôleur renvoient un ActionResult : statut (succès/erreur), message principal et liste d'effets secondaires. Évite de mêler la logique aux callbacks de la Vue.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Classes principales du modèle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554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554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11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GameState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global de la partie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011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les 40 tuiles, gère les tours, calcule les scores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11064240" cy="5943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606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hexagonal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6060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 cases, validation du retrait, localisation des pions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200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hexagonale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32004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explorateurs, nageurs, bateaux, créatures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11064240" cy="5943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94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3794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jeu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7947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et applique chaque action, gère les effets en chaîne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389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43891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 explorateur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43891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trésor cachée, état (terre/bateau/nageur/sauvé/éliminé)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064240" cy="5943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983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43200" y="4983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 bateau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60720" y="49834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3, contrôle calculé par majorité de passagers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57784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577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Creature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43200" y="5577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 créature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60720" y="55778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aux comportements distincts (serpent, requin, baleine)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hexagon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hexagon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4754880"/>
            <a:ext cx="2286000" cy="2286000"/>
          </a:xfrm>
          <a:prstGeom prst="hexagon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36576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Implémentation technique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jeu et interface graphique Swing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Règles de jeu implémentées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règles spécifiées dans le sujet a été implémenté. Chaque règle est tracée vers sa classe.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2140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9842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initial (explorateurs + bateaux)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97280" y="22494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GameWindow.setupPlaceExplorer/Boat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2633472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2633472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" y="26974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déplacements par tour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097280" y="296265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GameState.movesRemaining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3346704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3346704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4787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4107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retrait : plage &gt; forêt &gt; montagne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097280" y="36758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Board.canRemoveTile()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4059936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4059936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6110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41239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Tuile à retirer adjacente à la mer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097280" y="4389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Board.canRemoveTileIgnoreOrder()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773168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48640" y="4773168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7433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97280" y="48371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immédiates (requin, baleine...)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1097280" y="5102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GameController.applyImmediateAction()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48640" y="5486400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48640" y="5486400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687568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7280" y="55504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Tuiles conservées (dauphin, vent, chasse)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1097280" y="58155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GameController.playSavedTile()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355080" y="1920240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355080" y="1920240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21408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903720" y="19842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du serpent (coule bateau + nageurs)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6903720" y="22494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GameController.applySeaSnakeEffect()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355080" y="2633472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6355080" y="2633472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834640"/>
            <a:ext cx="256032" cy="25603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903720" y="26974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du requin (tue nageurs)</a:t>
            </a:r>
            <a:endParaRPr lang="en-US" sz="1150" dirty="0"/>
          </a:p>
        </p:txBody>
      </p:sp>
      <p:sp>
        <p:nvSpPr>
          <p:cNvPr id="48" name="Text 38"/>
          <p:cNvSpPr/>
          <p:nvPr/>
        </p:nvSpPr>
        <p:spPr>
          <a:xfrm>
            <a:off x="6903720" y="296265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GameController.applySharkEffect()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6355080" y="3346704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6355080" y="3346704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547872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6903720" y="34107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de la baleine (chavire bateau)</a:t>
            </a:r>
            <a:endParaRPr lang="en-US" sz="1150" dirty="0"/>
          </a:p>
        </p:txBody>
      </p:sp>
      <p:sp>
        <p:nvSpPr>
          <p:cNvPr id="53" name="Text 42"/>
          <p:cNvSpPr/>
          <p:nvPr/>
        </p:nvSpPr>
        <p:spPr>
          <a:xfrm>
            <a:off x="6903720" y="36758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GameController.applyWhaleEffect()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6355080" y="4059936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6355080" y="4059936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26110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6903720" y="41239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Tourbillon (retire tout dans la zone)</a:t>
            </a:r>
            <a:endParaRPr lang="en-US" sz="1150" dirty="0"/>
          </a:p>
        </p:txBody>
      </p:sp>
      <p:sp>
        <p:nvSpPr>
          <p:cNvPr id="58" name="Text 46"/>
          <p:cNvSpPr/>
          <p:nvPr/>
        </p:nvSpPr>
        <p:spPr>
          <a:xfrm>
            <a:off x="6903720" y="4389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GameController.applyTourbillon()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6355080" y="4773168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6355080" y="4773168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974336"/>
            <a:ext cx="256032" cy="256032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6903720" y="48371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d'un bateau par majorité</a:t>
            </a:r>
            <a:endParaRPr lang="en-US" sz="1150" dirty="0"/>
          </a:p>
        </p:txBody>
      </p:sp>
      <p:sp>
        <p:nvSpPr>
          <p:cNvPr id="63" name="Text 50"/>
          <p:cNvSpPr/>
          <p:nvPr/>
        </p:nvSpPr>
        <p:spPr>
          <a:xfrm>
            <a:off x="6903720" y="5102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Boat.getControllers()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6355080" y="5486400"/>
            <a:ext cx="5257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6355080" y="5486400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687568"/>
            <a:ext cx="256032" cy="256032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6903720" y="55504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final &amp; gestion des égalités</a:t>
            </a:r>
            <a:endParaRPr lang="en-US" sz="1150" dirty="0"/>
          </a:p>
        </p:txBody>
      </p:sp>
      <p:sp>
        <p:nvSpPr>
          <p:cNvPr id="68" name="Text 54"/>
          <p:cNvSpPr/>
          <p:nvPr/>
        </p:nvSpPr>
        <p:spPr>
          <a:xfrm>
            <a:off x="6903720" y="58155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Player.computeScore() / GameState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graphique : rendu hexagonal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54480"/>
            <a:ext cx="91440" cy="4754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HexRenderer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et détection d'hexagones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2606040"/>
            <a:ext cx="5486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288036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834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positions pixel en flat-top, offset-column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365760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Java2D avec anti-aliasing pour un rendu lisse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pixelToHex() : recherche du centre le plus proche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" y="521208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5166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plus robuste que les formules algébriques aux frontières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532120" y="1554480"/>
            <a:ext cx="6126480" cy="47548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532120" y="16916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DU PLATEAU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97880" y="2240280"/>
            <a:ext cx="502920" cy="548640"/>
          </a:xfrm>
          <a:prstGeom prst="hexagon">
            <a:avLst/>
          </a:prstGeom>
          <a:solidFill>
            <a:srgbClr val="F4A261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90158" y="251460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82435" y="224028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74713" y="251460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66990" y="224028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59268" y="251460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51546" y="224028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43823" y="2514600"/>
            <a:ext cx="502920" cy="548640"/>
          </a:xfrm>
          <a:prstGeom prst="hexagon">
            <a:avLst/>
          </a:prstGeom>
          <a:solidFill>
            <a:srgbClr val="F4A261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97880" y="278892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90158" y="3063240"/>
            <a:ext cx="502920" cy="548640"/>
          </a:xfrm>
          <a:prstGeom prst="hexagon">
            <a:avLst/>
          </a:prstGeom>
          <a:solidFill>
            <a:srgbClr val="4A7C59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82435" y="2788920"/>
            <a:ext cx="502920" cy="548640"/>
          </a:xfrm>
          <a:prstGeom prst="hexagon">
            <a:avLst/>
          </a:prstGeom>
          <a:solidFill>
            <a:srgbClr val="2A9D8F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74713" y="3063240"/>
            <a:ext cx="502920" cy="548640"/>
          </a:xfrm>
          <a:prstGeom prst="hexagon">
            <a:avLst/>
          </a:prstGeom>
          <a:solidFill>
            <a:srgbClr val="8B6F47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66990" y="2788920"/>
            <a:ext cx="502920" cy="548640"/>
          </a:xfrm>
          <a:prstGeom prst="hexagon">
            <a:avLst/>
          </a:prstGeom>
          <a:solidFill>
            <a:srgbClr val="4A7C59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859268" y="3063240"/>
            <a:ext cx="502920" cy="548640"/>
          </a:xfrm>
          <a:prstGeom prst="hexagon">
            <a:avLst/>
          </a:prstGeom>
          <a:solidFill>
            <a:srgbClr val="2A9D8F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51546" y="2788920"/>
            <a:ext cx="502920" cy="548640"/>
          </a:xfrm>
          <a:prstGeom prst="hexagon">
            <a:avLst/>
          </a:prstGeom>
          <a:solidFill>
            <a:srgbClr val="8B6F47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643823" y="306324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97880" y="333756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290158" y="3611880"/>
            <a:ext cx="502920" cy="548640"/>
          </a:xfrm>
          <a:prstGeom prst="hexagon">
            <a:avLst/>
          </a:prstGeom>
          <a:solidFill>
            <a:srgbClr val="2A9D8F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682435" y="3337560"/>
            <a:ext cx="502920" cy="548640"/>
          </a:xfrm>
          <a:prstGeom prst="hexagon">
            <a:avLst/>
          </a:prstGeom>
          <a:solidFill>
            <a:srgbClr val="8B6F47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74713" y="3611880"/>
            <a:ext cx="502920" cy="548640"/>
          </a:xfrm>
          <a:prstGeom prst="hexagon">
            <a:avLst/>
          </a:prstGeom>
          <a:solidFill>
            <a:srgbClr val="4A7C59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466990" y="3337560"/>
            <a:ext cx="502920" cy="548640"/>
          </a:xfrm>
          <a:prstGeom prst="hexagon">
            <a:avLst/>
          </a:prstGeom>
          <a:solidFill>
            <a:srgbClr val="2A9D8F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859268" y="3611880"/>
            <a:ext cx="502920" cy="548640"/>
          </a:xfrm>
          <a:prstGeom prst="hexagon">
            <a:avLst/>
          </a:prstGeom>
          <a:solidFill>
            <a:srgbClr val="8B6F47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51546" y="3337560"/>
            <a:ext cx="502920" cy="548640"/>
          </a:xfrm>
          <a:prstGeom prst="hexagon">
            <a:avLst/>
          </a:prstGeom>
          <a:solidFill>
            <a:srgbClr val="4A7C59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643823" y="361188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97880" y="388620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290158" y="4160520"/>
            <a:ext cx="502920" cy="548640"/>
          </a:xfrm>
          <a:prstGeom prst="hexagon">
            <a:avLst/>
          </a:prstGeom>
          <a:solidFill>
            <a:srgbClr val="8B6F47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682435" y="3886200"/>
            <a:ext cx="502920" cy="548640"/>
          </a:xfrm>
          <a:prstGeom prst="hexagon">
            <a:avLst/>
          </a:prstGeom>
          <a:solidFill>
            <a:srgbClr val="4A7C59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074713" y="4160520"/>
            <a:ext cx="502920" cy="548640"/>
          </a:xfrm>
          <a:prstGeom prst="hexagon">
            <a:avLst/>
          </a:prstGeom>
          <a:solidFill>
            <a:srgbClr val="2A9D8F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466990" y="3886200"/>
            <a:ext cx="502920" cy="548640"/>
          </a:xfrm>
          <a:prstGeom prst="hexagon">
            <a:avLst/>
          </a:prstGeom>
          <a:solidFill>
            <a:srgbClr val="8B6F47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859268" y="4160520"/>
            <a:ext cx="502920" cy="548640"/>
          </a:xfrm>
          <a:prstGeom prst="hexagon">
            <a:avLst/>
          </a:prstGeom>
          <a:solidFill>
            <a:srgbClr val="4A7C59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251546" y="3886200"/>
            <a:ext cx="502920" cy="548640"/>
          </a:xfrm>
          <a:prstGeom prst="hexagon">
            <a:avLst/>
          </a:prstGeom>
          <a:solidFill>
            <a:srgbClr val="2A9D8F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643823" y="416052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897880" y="4434840"/>
            <a:ext cx="502920" cy="548640"/>
          </a:xfrm>
          <a:prstGeom prst="hexagon">
            <a:avLst/>
          </a:prstGeom>
          <a:solidFill>
            <a:srgbClr val="F4A261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290158" y="470916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682435" y="443484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074713" y="470916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466990" y="443484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859268" y="470916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251546" y="4434840"/>
            <a:ext cx="502920" cy="548640"/>
          </a:xfrm>
          <a:prstGeom prst="hexagon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643823" y="4709160"/>
            <a:ext cx="502920" cy="548640"/>
          </a:xfrm>
          <a:prstGeom prst="hexagon">
            <a:avLst/>
          </a:prstGeom>
          <a:solidFill>
            <a:srgbClr val="F4A261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583680" y="274320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223760" y="3017520"/>
            <a:ext cx="164592" cy="164592"/>
          </a:xfrm>
          <a:prstGeom prst="ellipse">
            <a:avLst/>
          </a:prstGeom>
          <a:solidFill>
            <a:srgbClr val="457B9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955280" y="2743200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686800" y="329184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326880" y="3017520"/>
            <a:ext cx="164592" cy="164592"/>
          </a:xfrm>
          <a:prstGeom prst="ellipse">
            <a:avLst/>
          </a:prstGeom>
          <a:solidFill>
            <a:srgbClr val="457B9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532120" y="5897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hexagonal — 40 tuiles terrain en layout offset-column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 des phases de jeu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ActionBarPanel affiche dynamiquement les boutons pertinents pour la phase courante. GameWindow agit comme médiateur entre les composants graphiques et le contrôleur.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" y="2194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" y="2194560"/>
            <a:ext cx="265176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1348740" y="3337560"/>
            <a:ext cx="822960" cy="822960"/>
          </a:xfrm>
          <a:prstGeom prst="ellipse">
            <a:avLst/>
          </a:prstGeom>
          <a:solidFill>
            <a:srgbClr val="F8F4E3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352044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722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Tuile conservée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" y="4892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(Optionnel) Jouer une tuile conservée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 rot="1800000">
            <a:off x="3104388" y="3931920"/>
            <a:ext cx="182880" cy="182880"/>
          </a:xfrm>
          <a:prstGeom prst="rtTriangl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14700" y="2194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14700" y="2194560"/>
            <a:ext cx="265176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1470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20" name="Shape 17"/>
          <p:cNvSpPr/>
          <p:nvPr/>
        </p:nvSpPr>
        <p:spPr>
          <a:xfrm>
            <a:off x="4229100" y="3337560"/>
            <a:ext cx="822960" cy="822960"/>
          </a:xfrm>
          <a:prstGeom prst="ellipse">
            <a:avLst/>
          </a:prstGeom>
          <a:solidFill>
            <a:srgbClr val="F8F4E3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352044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9758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Déplacements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3543300" y="4892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3 mouvements de pions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 rot="1800000">
            <a:off x="5984748" y="3931920"/>
            <a:ext cx="182880" cy="182880"/>
          </a:xfrm>
          <a:prstGeom prst="rtTriangl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95060" y="2194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95060" y="2194560"/>
            <a:ext cx="2651760" cy="914400"/>
          </a:xfrm>
          <a:prstGeom prst="rect">
            <a:avLst/>
          </a:prstGeom>
          <a:solidFill>
            <a:srgbClr val="2D3A6E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19506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8" name="Shape 24"/>
          <p:cNvSpPr/>
          <p:nvPr/>
        </p:nvSpPr>
        <p:spPr>
          <a:xfrm>
            <a:off x="7109460" y="3337560"/>
            <a:ext cx="822960" cy="822960"/>
          </a:xfrm>
          <a:prstGeom prst="ellipse">
            <a:avLst/>
          </a:prstGeom>
          <a:solidFill>
            <a:srgbClr val="F8F4E3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3520440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7794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Retirer tuile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423660" y="4892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&gt; Forêt &gt; Montagne (auto-vérif.)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 rot="1800000">
            <a:off x="8865108" y="3931920"/>
            <a:ext cx="182880" cy="182880"/>
          </a:xfrm>
          <a:prstGeom prst="rtTriangl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075420" y="2194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075420" y="2194560"/>
            <a:ext cx="265176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07542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36" name="Shape 31"/>
          <p:cNvSpPr/>
          <p:nvPr/>
        </p:nvSpPr>
        <p:spPr>
          <a:xfrm>
            <a:off x="9989820" y="3337560"/>
            <a:ext cx="822960" cy="822960"/>
          </a:xfrm>
          <a:prstGeom prst="ellipse">
            <a:avLst/>
          </a:prstGeom>
          <a:solidFill>
            <a:srgbClr val="F8F4E3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0" y="3520440"/>
            <a:ext cx="457200" cy="4572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25830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Lancer le dé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9304020" y="4892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une créature du type tiré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tour suit cet enchaînement strict, orchestré par GameWindow.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hexagon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hexagon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4754880"/>
            <a:ext cx="2286000" cy="2286000"/>
          </a:xfrm>
          <a:prstGeom prst="hexagon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36576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UTILISATEUR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Jouer à The Island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Lancement, configuration et déroulement d'une partie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UTILISATEUR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Lancer le jeu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méthodes pour démarrer l'application — pré-requis : Java 17 ou supérieur.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54864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65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JAR exécutable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5029200" cy="7315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-jar the-island.jar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direct, aucune compilation nécessaire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965960"/>
            <a:ext cx="54864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1965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Compilation depuis les sources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2743200"/>
            <a:ext cx="5029200" cy="7315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7432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javac -d target/classes $(find src -name "*.java")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-cp target/classes theisland.Main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entièrement hors-IDE, conforme au sujet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155680" cy="2103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3484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3444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LA PARTIE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4800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Boîte de dialogue de démarrage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777240" y="53949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41732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nombre de joueurs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17320" y="5669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réglable de 2 à 4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26280" y="53949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2628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16636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 nom de chaque joueur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166360" y="5669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texte dédiés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275320" y="53949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891540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Démarrer la partie »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915400" y="5669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fenêtre principale s'ouvre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UTILISATEUR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Symboles sur le plateau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visuels pour identifier les pions et les zones spéciales.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26060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7340" y="2194560"/>
            <a:ext cx="548640" cy="54864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Explorateur sur terrain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Cercle plein coloré (par joueur)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965960"/>
            <a:ext cx="26060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6260" y="2194560"/>
            <a:ext cx="548640" cy="548640"/>
          </a:xfrm>
          <a:prstGeom prst="rect">
            <a:avLst/>
          </a:prstGeom>
          <a:solidFill>
            <a:srgbClr val="457B9D"/>
          </a:solidFill>
          <a:ln w="25400">
            <a:solidFill>
              <a:srgbClr val="00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Nageur dans l'eau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Carré avec bord cyan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965960"/>
            <a:ext cx="26060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9460" y="2286000"/>
            <a:ext cx="640080" cy="45720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51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6364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Bateau et ses passagers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brun + chiffre passagers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1540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15400" y="1965960"/>
            <a:ext cx="26060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44100" y="2194560"/>
            <a:ext cx="640080" cy="548640"/>
          </a:xfrm>
          <a:prstGeom prst="hexagon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Plage de débarquement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52560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jaunes aux 4 coins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297680"/>
            <a:ext cx="26060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77340" y="4526280"/>
            <a:ext cx="548640" cy="54864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773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5800" y="5440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Serpent de mer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5897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 bateaux + nageurs adjacents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37560" y="429768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37560" y="4297680"/>
            <a:ext cx="26060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66260" y="4526280"/>
            <a:ext cx="548640" cy="54864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6626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474720" y="5440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474720" y="5897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les nageurs adjacents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26480" y="429768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4297680"/>
            <a:ext cx="26060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5180" y="4526280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5518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263640" y="5440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Baleine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63640" y="5897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Chavire les bateaux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915400" y="429768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915400" y="4297680"/>
            <a:ext cx="26060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98380" y="4526280"/>
            <a:ext cx="640080" cy="548640"/>
          </a:xfrm>
          <a:prstGeom prst="hexagon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89820" y="4617720"/>
            <a:ext cx="457200" cy="365760"/>
          </a:xfrm>
          <a:prstGeom prst="rtTriangl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0" y="5440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Volcan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052560" y="5897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révélation = fin de partie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hexagon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hexagon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4754880"/>
            <a:ext cx="2286000" cy="2286000"/>
          </a:xfrm>
          <a:prstGeom prst="hexagon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36576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BILAN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Mesurer et tirer les leçons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du code, répartition du travail, difficultés et perspectives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BILAN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 des tâches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membre s'est concentré sur une couche de l'architecture MVC, conformément à l'organisation choisie.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1645920" cy="2057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514600"/>
            <a:ext cx="914400" cy="9144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31720" y="2194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Ahmed Ishagh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31720" y="2606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31720" y="2926080"/>
            <a:ext cx="457200" cy="27432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31720" y="30632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Cell, GameState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hexagonales (HexCoord)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201168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2011680"/>
            <a:ext cx="1645920" cy="2057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37960" y="2514600"/>
            <a:ext cx="914400" cy="9144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74320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1722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955280" y="2194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Yassine Joudi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955280" y="2606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&amp; RÈGLES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955280" y="2926080"/>
            <a:ext cx="457200" cy="27432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955280" y="30632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GameController, ActionResult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des règles et effets en chaîne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48640" y="425196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48640" y="4251960"/>
            <a:ext cx="1645920" cy="2057400"/>
          </a:xfrm>
          <a:prstGeom prst="rect">
            <a:avLst/>
          </a:prstGeom>
          <a:solidFill>
            <a:srgbClr val="2D3A6E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14400" y="4754880"/>
            <a:ext cx="914400" cy="9144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983480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8640" y="5760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2331720" y="44348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Rayen HMIDA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2331720" y="4846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331720" y="5166360"/>
            <a:ext cx="457200" cy="27432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331720" y="5303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BoardPanel, HexRenderer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hexagonal · Tests · README · Rapport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172200" y="425196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172200" y="4251960"/>
            <a:ext cx="1645920" cy="2057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537960" y="4754880"/>
            <a:ext cx="914400" cy="9144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983480"/>
            <a:ext cx="457200" cy="4572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172200" y="5760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7955280" y="44348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Mouhamed El Ouarguly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7955280" y="4846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&amp; DIALOGUES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7955280" y="5166360"/>
            <a:ext cx="457200" cy="27432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955280" y="5303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GameWindow, SetupDialog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ScoreDialog, HelpDialog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BILAN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Difficultés rencontrées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obstacles techniques majeurs ont structuré le développement.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257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100584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6596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737360" y="2194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Voisinage hexagonal en offset-column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37360" y="2743200"/>
            <a:ext cx="457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8803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parité de la colonne change les décalages des 6 voisins. Une attention particulière et des tests dédiés ont été nécessaires pour garantir un calcul correct.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965960"/>
            <a:ext cx="5257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965960"/>
            <a:ext cx="100584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96596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543800" y="2194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effets en chaîne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43800" y="2743200"/>
            <a:ext cx="457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8803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une baleine sur une case avec un requin. L'ordre d'évaluation des effets était crucial pour éviter des états incohérents.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5257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343400"/>
            <a:ext cx="100584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4340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737360" y="45720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de setup multi-joueur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737360" y="5120640"/>
            <a:ext cx="457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52578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L'orchestration du placement de 10 explorateurs + 2 bateaux par joueur dans la Vue a nécessité une véritable machine à états dédiée.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4343400"/>
            <a:ext cx="5257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4343400"/>
            <a:ext cx="100584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34340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7543800" y="45720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du clic hexagonal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543800" y="5120640"/>
            <a:ext cx="457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52578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pixelToHex par recherche du centre le plus proche s'est avérée plus robuste que les formules algébriques exactes, qui souffrent d'erreurs de virgule flottante aux frontières.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BILAN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Pistes d'amélioration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— Projet POO IATIC 3 (2025/2026)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HMIDA · Joudi · Ishagh · El Ouarguly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extensions naturelles permettraient d'enrichir l'application.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109728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21408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31136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21214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Sauvegarde &amp; chargement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94960" y="21214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Sérialisation des parties en cours pour les reprendre plus tard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898648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898648"/>
            <a:ext cx="109728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3008376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118104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45920" y="30083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IA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394960" y="30083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Adversaire informatisé pour jouer seul contre l'ordinateur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3785616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785616"/>
            <a:ext cx="109728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14400" y="3895344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005072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45920" y="3895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Animations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394960" y="38953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visuelles lors des déplacements et effets de créatures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48640" y="4672584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4672584"/>
            <a:ext cx="109728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14400" y="4782312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892040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645920" y="4782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394960" y="47823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 et musique d'ambiance pour renforcer l'immersion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48640" y="5559552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5559552"/>
            <a:ext cx="109728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14400" y="5669280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5779008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645920" y="5669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Zoom &amp; scroll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5394960" y="5669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du plateau aux petits écrans (HiDPI, mobile)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hexagon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hexagon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2743200" cy="2743200"/>
          </a:xfrm>
          <a:prstGeom prst="hexagon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kern="0" spc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votre attention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4206240"/>
            <a:ext cx="10972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aux questions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1A2348"/>
          </a:solidFill>
          <a:ln w="12700">
            <a:solidFill>
              <a:srgbClr val="1A23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Rayen HMIDA   ·   Yassine Joudi   ·   Ahmed Ishagh   ·   Mouhamed El Ouarguly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 3  ·  2025 / 2026  ·  Encadrante : Dhekra ABOUDA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IATIC 3 - 2025/2026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Island - Projet POO IATIC 3</dc:title>
  <dc:subject>PptxGenJS Presentation</dc:subject>
  <dc:creator>Rayen HMIDA, Yassine Joudi, Ahmed Ishagh, Mouhamed El Ouarguly</dc:creator>
  <cp:lastModifiedBy>Rayen HMIDA, Yassine Joudi, Ahmed Ishagh, Mouhamed El Ouarguly</cp:lastModifiedBy>
  <cp:revision>4</cp:revision>
  <dcterms:created xsi:type="dcterms:W3CDTF">2026-05-27T22:10:34Z</dcterms:created>
  <dcterms:modified xsi:type="dcterms:W3CDTF">2026-05-27T22:16:52Z</dcterms:modified>
</cp:coreProperties>
</file>